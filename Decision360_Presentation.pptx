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67370" y="167005"/>
            <a:ext cx="3956050" cy="4125595"/>
          </a:xfrm>
          <a:prstGeom prst="ellipse">
            <a:avLst/>
          </a:prstGeom>
          <a:solidFill>
            <a:srgbClr val="141B47"/>
          </a:solidFill>
        </p:spPr>
      </p:sp>
      <p:sp>
        <p:nvSpPr>
          <p:cNvPr id="3" name="Shape 1"/>
          <p:cNvSpPr/>
          <p:nvPr/>
        </p:nvSpPr>
        <p:spPr>
          <a:xfrm>
            <a:off x="146685" y="3818255"/>
            <a:ext cx="3300730" cy="3039745"/>
          </a:xfrm>
          <a:prstGeom prst="ellipse">
            <a:avLst/>
          </a:prstGeom>
          <a:solidFill>
            <a:srgbClr val="141B47"/>
          </a:solidFill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4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PYTHON DATA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NumPy, Pandas, Matplotlib, Scikit-learn &amp; Seaborn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...and how they power Decision360, an end-to-end Business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&amp; Decision Intelligence Platform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511296" y="4892040"/>
            <a:ext cx="777240" cy="7772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8" name="Image 0" descr="pptx_assets/icon_nump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6175" y="5066919"/>
            <a:ext cx="427482" cy="4274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08576" y="4892040"/>
            <a:ext cx="777240" cy="777240"/>
          </a:xfrm>
          <a:prstGeom prst="ellipse">
            <a:avLst/>
          </a:prstGeom>
          <a:solidFill>
            <a:srgbClr val="3A4694"/>
          </a:solidFill>
        </p:spPr>
      </p:sp>
      <p:pic>
        <p:nvPicPr>
          <p:cNvPr id="10" name="Image 1" descr="pptx_assets/icon_pan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455" y="5066919"/>
            <a:ext cx="427482" cy="4274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05856" y="4892040"/>
            <a:ext cx="777240" cy="7772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12" name="Image 2" descr="pptx_assets/icon_matplot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35" y="5066919"/>
            <a:ext cx="427482" cy="42748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03136" y="4892040"/>
            <a:ext cx="777240" cy="777240"/>
          </a:xfrm>
          <a:prstGeom prst="ellipse">
            <a:avLst/>
          </a:prstGeom>
          <a:solidFill>
            <a:srgbClr val="3A4694"/>
          </a:solidFill>
        </p:spPr>
      </p:sp>
      <p:pic>
        <p:nvPicPr>
          <p:cNvPr id="14" name="Image 3" descr="pptx_assets/icon_sk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8015" y="5066919"/>
            <a:ext cx="427482" cy="42748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900416" y="4892040"/>
            <a:ext cx="777240" cy="7772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16" name="Image 4" descr="pptx_assets/icon_seab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295" y="5066919"/>
            <a:ext cx="427482" cy="42748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Box 17"/>
          <p:cNvSpPr txBox="1"/>
          <p:nvPr/>
        </p:nvSpPr>
        <p:spPr>
          <a:xfrm>
            <a:off x="742315" y="5083175"/>
            <a:ext cx="22745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Name: Dipanshu Garg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            Ritesh Ghosh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Reg no.: 12508450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                12521887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Twelve slides, two halves: the toolkit, then the platform it builds.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7F8FC"/>
          </a:solidFill>
        </p:spPr>
      </p:sp>
      <p:sp>
        <p:nvSpPr>
          <p:cNvPr id="5" name="Text 3"/>
          <p:cNvSpPr/>
          <p:nvPr/>
        </p:nvSpPr>
        <p:spPr>
          <a:xfrm>
            <a:off x="960120" y="19202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4B4B"/>
                </a:solidFill>
              </a:rPr>
              <a:t>PART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Python Toolkit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27889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8" name="Image 0" descr="pptx_assets/icon_nump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8917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816352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730"/>
                </a:solidFill>
              </a:rPr>
              <a:t>NumPy — numerical foundations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60120" y="3392424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pptx_assets/icon_pan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3495294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419856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730"/>
                </a:solidFill>
              </a:rPr>
              <a:t>Pandas — tabular data &amp; aggregation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60120" y="3995928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4" name="Image 2" descr="pptx_assets/icon_matplot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09879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02336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730"/>
                </a:solidFill>
              </a:rPr>
              <a:t>Matplotlib — static visualization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960120" y="4599432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7" name="Image 3" descr="pptx_assets/icon_sk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" y="4702302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626864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730"/>
                </a:solidFill>
              </a:rPr>
              <a:t>Scikit-learn — forecasting model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960120" y="5202936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0" name="Image 4" descr="pptx_assets/icon_seab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305806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523036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62730"/>
                </a:solidFill>
              </a:rPr>
              <a:t>Seaborn — statistical plotting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6309360" y="16916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</p:spPr>
      </p:sp>
      <p:sp>
        <p:nvSpPr>
          <p:cNvPr id="23" name="Text 16"/>
          <p:cNvSpPr/>
          <p:nvPr/>
        </p:nvSpPr>
        <p:spPr>
          <a:xfrm>
            <a:off x="6629400" y="19202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4B4B"/>
                </a:solidFill>
              </a:rPr>
              <a:t>PART 2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629400" y="2212848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Decision360 in Action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6629400" y="2788920"/>
            <a:ext cx="457200" cy="45720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26" name="Image 5" descr="pptx_assets/icon_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270" y="289179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23760" y="2816352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What the platform does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6629400" y="3392424"/>
            <a:ext cx="457200" cy="45720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29" name="Image 6" descr="pptx_assets/icon_g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2270" y="3495294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23760" y="3419856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Architecture &amp; tech stack</a:t>
            </a:r>
            <a:endParaRPr lang="en-US" sz="1350" dirty="0"/>
          </a:p>
        </p:txBody>
      </p:sp>
      <p:sp>
        <p:nvSpPr>
          <p:cNvPr id="31" name="Shape 22"/>
          <p:cNvSpPr/>
          <p:nvPr/>
        </p:nvSpPr>
        <p:spPr>
          <a:xfrm>
            <a:off x="6629400" y="3995928"/>
            <a:ext cx="457200" cy="45720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32" name="Image 7" descr="pptx_assets/icon_chartb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2270" y="4098798"/>
            <a:ext cx="251460" cy="2514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23760" y="402336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A glimpse of the dashboard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6629400" y="4599432"/>
            <a:ext cx="457200" cy="45720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35" name="Image 8" descr="pptx_assets/icon_magnif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270" y="4702302"/>
            <a:ext cx="251460" cy="25146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223760" y="4626864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Results &amp; key findings</a:t>
            </a:r>
            <a:endParaRPr lang="en-US" sz="1350" dirty="0"/>
          </a:p>
        </p:txBody>
      </p:sp>
      <p:sp>
        <p:nvSpPr>
          <p:cNvPr id="37" name="Shape 26"/>
          <p:cNvSpPr/>
          <p:nvPr/>
        </p:nvSpPr>
        <p:spPr>
          <a:xfrm>
            <a:off x="6629400" y="5202936"/>
            <a:ext cx="457200" cy="45720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38" name="Image 9" descr="pptx_assets/icon_ch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2270" y="5305806"/>
            <a:ext cx="251460" cy="25146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7223760" y="5230368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</a:rPr>
              <a:t>Takeaways</a:t>
            </a:r>
            <a:endParaRPr lang="en-US" sz="1350" dirty="0"/>
          </a:p>
        </p:txBody>
      </p:sp>
      <p:sp>
        <p:nvSpPr>
          <p:cNvPr id="4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4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417320" y="1371600"/>
            <a:ext cx="1463040" cy="14630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4" name="Image 0" descr="pptx_assets/icon_nump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700784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NumPy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The numerical foundation everything else is built 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34840" y="59436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434840" y="1389888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9" name="Text 6"/>
          <p:cNvSpPr/>
          <p:nvPr/>
        </p:nvSpPr>
        <p:spPr>
          <a:xfrm>
            <a:off x="4709160" y="1225296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Fast, memory-efficient n-dimensional arrays (ndarray)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1956816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1" name="Text 8"/>
          <p:cNvSpPr/>
          <p:nvPr/>
        </p:nvSpPr>
        <p:spPr>
          <a:xfrm>
            <a:off x="4709160" y="1792224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Vectorized math — operations run without explicit Python loops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34840" y="2523744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3" name="Text 10"/>
          <p:cNvSpPr/>
          <p:nvPr/>
        </p:nvSpPr>
        <p:spPr>
          <a:xfrm>
            <a:off x="4709160" y="2359152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Broadcasting rules for combining arrays of different shapes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3090672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5" name="Text 12"/>
          <p:cNvSpPr/>
          <p:nvPr/>
        </p:nvSpPr>
        <p:spPr>
          <a:xfrm>
            <a:off x="4709160" y="2926080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Underpins pandas, scikit-learn, and Matplotlib internally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685032"/>
            <a:ext cx="704088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</p:spPr>
      </p:sp>
      <p:sp>
        <p:nvSpPr>
          <p:cNvPr id="17" name="Text 14"/>
          <p:cNvSpPr/>
          <p:nvPr/>
        </p:nvSpPr>
        <p:spPr>
          <a:xfrm>
            <a:off x="4663440" y="382219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4B4B"/>
                </a:solidFill>
              </a:rPr>
              <a:t>USED IN DECISION360 FOR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3440" y="4078224"/>
            <a:ext cx="65836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62730"/>
                </a:solidFill>
              </a:rPr>
              <a:t>Elasticity calculations in the What-If Simulator and the z-score math behind Anomaly Detection both rely on NumPy's vectorized array operations for speed and precision.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417320" y="1371600"/>
            <a:ext cx="1463040" cy="14630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4" name="Image 0" descr="pptx_assets/icon_panda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700784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Pandas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The workhorse for tabular business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34840" y="59436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434840" y="1389888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9" name="Text 6"/>
          <p:cNvSpPr/>
          <p:nvPr/>
        </p:nvSpPr>
        <p:spPr>
          <a:xfrm>
            <a:off x="4709160" y="1225296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DataFrame / Series structures built on top of NumPy arrays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1956816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1" name="Text 8"/>
          <p:cNvSpPr/>
          <p:nvPr/>
        </p:nvSpPr>
        <p:spPr>
          <a:xfrm>
            <a:off x="4709160" y="1792224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groupby(), pivot, and merge operations for aggregation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34840" y="2523744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3" name="Text 10"/>
          <p:cNvSpPr/>
          <p:nvPr/>
        </p:nvSpPr>
        <p:spPr>
          <a:xfrm>
            <a:off x="4709160" y="2359152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Built-in date/time handling for period-over-period comparisons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3090672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5" name="Text 12"/>
          <p:cNvSpPr/>
          <p:nvPr/>
        </p:nvSpPr>
        <p:spPr>
          <a:xfrm>
            <a:off x="4709160" y="2926080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Reads/writes CSV, Excel, SQL, and more with one line of code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685032"/>
            <a:ext cx="704088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</p:spPr>
      </p:sp>
      <p:sp>
        <p:nvSpPr>
          <p:cNvPr id="17" name="Text 14"/>
          <p:cNvSpPr/>
          <p:nvPr/>
        </p:nvSpPr>
        <p:spPr>
          <a:xfrm>
            <a:off x="4663440" y="382219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4B4B"/>
                </a:solidFill>
              </a:rPr>
              <a:t>USED IN DECISION360 FOR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3440" y="4078224"/>
            <a:ext cx="65836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62730"/>
                </a:solidFill>
              </a:rPr>
              <a:t>Every module — KPI computation, driver analysis, RFM segmentation, and inventory monitoring — is built on pandas groupby and aggregation operations over the orders dataset.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417320" y="1371600"/>
            <a:ext cx="1463040" cy="14630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4" name="Image 0" descr="pptx_assets/icon_matplotli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700784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Matplotlib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The standard for static, publication-quality charts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34840" y="59436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434840" y="1389888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9" name="Text 6"/>
          <p:cNvSpPr/>
          <p:nvPr/>
        </p:nvSpPr>
        <p:spPr>
          <a:xfrm>
            <a:off x="4709160" y="1225296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Full control over every element of a chart — axes, colors, labels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1956816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1" name="Text 8"/>
          <p:cNvSpPr/>
          <p:nvPr/>
        </p:nvSpPr>
        <p:spPr>
          <a:xfrm>
            <a:off x="4709160" y="1792224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Produces publication- and report-ready static image exports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34840" y="2523744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3" name="Text 10"/>
          <p:cNvSpPr/>
          <p:nvPr/>
        </p:nvSpPr>
        <p:spPr>
          <a:xfrm>
            <a:off x="4709160" y="2359152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Forms the low-level rendering engine many other libraries build 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3090672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5" name="Text 12"/>
          <p:cNvSpPr/>
          <p:nvPr/>
        </p:nvSpPr>
        <p:spPr>
          <a:xfrm>
            <a:off x="4709160" y="2926080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Ideal for reproducible, scriptable chart generation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685032"/>
            <a:ext cx="704088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</p:spPr>
      </p:sp>
      <p:sp>
        <p:nvSpPr>
          <p:cNvPr id="17" name="Text 14"/>
          <p:cNvSpPr/>
          <p:nvPr/>
        </p:nvSpPr>
        <p:spPr>
          <a:xfrm>
            <a:off x="4663440" y="382219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4B4B"/>
                </a:solidFill>
              </a:rPr>
              <a:t>USED IN DECISION360 FOR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3440" y="4078224"/>
            <a:ext cx="65836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62730"/>
                </a:solidFill>
              </a:rPr>
              <a:t>Every chart embedded in the Decision360 project report — revenue trends, forecasts, anomaly plots, the discount-sweep curve — was generated with Matplotlib for crisp, print-ready output.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417320" y="1371600"/>
            <a:ext cx="1463040" cy="14630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4" name="Image 0" descr="pptx_assets/icon_sklear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700784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Scikit-learn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The standard toolkit for classical machine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34840" y="59436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434840" y="1389888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9" name="Text 6"/>
          <p:cNvSpPr/>
          <p:nvPr/>
        </p:nvSpPr>
        <p:spPr>
          <a:xfrm>
            <a:off x="4709160" y="1225296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Consistent fit() / predict() API across dozens of algorithms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1956816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1" name="Text 8"/>
          <p:cNvSpPr/>
          <p:nvPr/>
        </p:nvSpPr>
        <p:spPr>
          <a:xfrm>
            <a:off x="4709160" y="1792224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Linear and regularized regression, classification, clustering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34840" y="2523744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3" name="Text 10"/>
          <p:cNvSpPr/>
          <p:nvPr/>
        </p:nvSpPr>
        <p:spPr>
          <a:xfrm>
            <a:off x="4709160" y="2359152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Built-in tools for model evaluation and train/test splitting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3090672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5" name="Text 12"/>
          <p:cNvSpPr/>
          <p:nvPr/>
        </p:nvSpPr>
        <p:spPr>
          <a:xfrm>
            <a:off x="4709160" y="2926080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Interoperates directly with NumPy arrays and pandas DataFrames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685032"/>
            <a:ext cx="704088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</p:spPr>
      </p:sp>
      <p:sp>
        <p:nvSpPr>
          <p:cNvPr id="17" name="Text 14"/>
          <p:cNvSpPr/>
          <p:nvPr/>
        </p:nvSpPr>
        <p:spPr>
          <a:xfrm>
            <a:off x="4663440" y="382219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4B4B"/>
                </a:solidFill>
              </a:rPr>
              <a:t>USED IN DECISION360 FOR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3440" y="4078224"/>
            <a:ext cx="65836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62730"/>
                </a:solidFill>
              </a:rPr>
              <a:t>The Forecasting module uses scikit-learn's LinearRegression to project revenue — chosen deliberately for explainability, since its coefficients can be inspected directly rather than treated as a black box.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1417320" y="1371600"/>
            <a:ext cx="1463040" cy="14630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4" name="Image 0" descr="pptx_assets/icon_seabor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700784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017520"/>
            <a:ext cx="3017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Seaborn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361188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Statistical visualization built on top of Matplotlib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34840" y="59436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Capabilities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434840" y="1389888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9" name="Text 6"/>
          <p:cNvSpPr/>
          <p:nvPr/>
        </p:nvSpPr>
        <p:spPr>
          <a:xfrm>
            <a:off x="4709160" y="1225296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High-level API for statistical plots — distributions, correlations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1956816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1" name="Text 8"/>
          <p:cNvSpPr/>
          <p:nvPr/>
        </p:nvSpPr>
        <p:spPr>
          <a:xfrm>
            <a:off x="4709160" y="1792224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Attractive default themes and color palettes out of the box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34840" y="2523744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3" name="Text 10"/>
          <p:cNvSpPr/>
          <p:nvPr/>
        </p:nvSpPr>
        <p:spPr>
          <a:xfrm>
            <a:off x="4709160" y="2359152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Built-in support for grouping and faceting by category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3090672"/>
            <a:ext cx="109728" cy="109728"/>
          </a:xfrm>
          <a:prstGeom prst="ellipse">
            <a:avLst/>
          </a:prstGeom>
          <a:solidFill>
            <a:srgbClr val="FF4B4B"/>
          </a:solidFill>
        </p:spPr>
      </p:sp>
      <p:sp>
        <p:nvSpPr>
          <p:cNvPr id="15" name="Text 12"/>
          <p:cNvSpPr/>
          <p:nvPr/>
        </p:nvSpPr>
        <p:spPr>
          <a:xfrm>
            <a:off x="4709160" y="2926080"/>
            <a:ext cx="6766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730"/>
                </a:solidFill>
              </a:rPr>
              <a:t>Works directly with pandas DataFrames as its native input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34840" y="3685032"/>
            <a:ext cx="7040880" cy="1143000"/>
          </a:xfrm>
          <a:prstGeom prst="roundRect">
            <a:avLst>
              <a:gd name="adj" fmla="val 6400"/>
            </a:avLst>
          </a:prstGeom>
          <a:solidFill>
            <a:srgbClr val="F7F8FC"/>
          </a:solidFill>
        </p:spPr>
      </p:sp>
      <p:sp>
        <p:nvSpPr>
          <p:cNvPr id="17" name="Text 14"/>
          <p:cNvSpPr/>
          <p:nvPr/>
        </p:nvSpPr>
        <p:spPr>
          <a:xfrm>
            <a:off x="4663440" y="3822192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4B4B"/>
                </a:solidFill>
              </a:rPr>
              <a:t>USED IN DECISION360 FOR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3440" y="4078224"/>
            <a:ext cx="658368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62730"/>
                </a:solidFill>
              </a:rPr>
              <a:t>Not required for this build's core charts, but a natural next step for correlation heatmaps and distribution plots when extending the Customer Intelligence and RFM analysis modules.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7"/>
          </a:solidFill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4B4B"/>
                </a:solidFill>
              </a:rPr>
              <a:t>PART 2 · DECISION360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9601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Data to Decisions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</a:rPr>
              <a:t>Decision360 is an end-to-end Business Intelligence platform that goes beyond dashboards — it explains why metrics changed, forecasts what happens next, and recommends what to do about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A3470"/>
          </a:solidFill>
        </p:spPr>
      </p:sp>
      <p:sp>
        <p:nvSpPr>
          <p:cNvPr id="7" name="Text 5"/>
          <p:cNvSpPr/>
          <p:nvPr/>
        </p:nvSpPr>
        <p:spPr>
          <a:xfrm>
            <a:off x="850392" y="3657600"/>
            <a:ext cx="1965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What happened?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 rot="5400000">
            <a:off x="2843784" y="4023360"/>
            <a:ext cx="146304" cy="182880"/>
          </a:xfrm>
          <a:prstGeom prst="triangle">
            <a:avLst/>
          </a:prstGeom>
          <a:solidFill>
            <a:srgbClr val="CADCFC"/>
          </a:solidFill>
        </p:spPr>
      </p:sp>
      <p:sp>
        <p:nvSpPr>
          <p:cNvPr id="9" name="Shape 7"/>
          <p:cNvSpPr/>
          <p:nvPr/>
        </p:nvSpPr>
        <p:spPr>
          <a:xfrm>
            <a:off x="2980944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A3470"/>
          </a:solidFill>
        </p:spPr>
      </p:sp>
      <p:sp>
        <p:nvSpPr>
          <p:cNvPr id="10" name="Text 8"/>
          <p:cNvSpPr/>
          <p:nvPr/>
        </p:nvSpPr>
        <p:spPr>
          <a:xfrm>
            <a:off x="2980944" y="3657600"/>
            <a:ext cx="1965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Why?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5400000">
            <a:off x="4974336" y="4023360"/>
            <a:ext cx="146304" cy="182880"/>
          </a:xfrm>
          <a:prstGeom prst="triangle">
            <a:avLst/>
          </a:prstGeom>
          <a:solidFill>
            <a:srgbClr val="CADCFC"/>
          </a:solidFill>
        </p:spPr>
      </p:sp>
      <p:sp>
        <p:nvSpPr>
          <p:cNvPr id="12" name="Shape 10"/>
          <p:cNvSpPr/>
          <p:nvPr/>
        </p:nvSpPr>
        <p:spPr>
          <a:xfrm>
            <a:off x="5111496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A3470"/>
          </a:solidFill>
        </p:spPr>
      </p:sp>
      <p:sp>
        <p:nvSpPr>
          <p:cNvPr id="13" name="Text 11"/>
          <p:cNvSpPr/>
          <p:nvPr/>
        </p:nvSpPr>
        <p:spPr>
          <a:xfrm>
            <a:off x="5111496" y="3657600"/>
            <a:ext cx="1965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What's next?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5400000">
            <a:off x="7104888" y="4023360"/>
            <a:ext cx="146304" cy="182880"/>
          </a:xfrm>
          <a:prstGeom prst="triangle">
            <a:avLst/>
          </a:prstGeom>
          <a:solidFill>
            <a:srgbClr val="CADCFC"/>
          </a:solidFill>
        </p:spPr>
      </p:sp>
      <p:sp>
        <p:nvSpPr>
          <p:cNvPr id="15" name="Shape 13"/>
          <p:cNvSpPr/>
          <p:nvPr/>
        </p:nvSpPr>
        <p:spPr>
          <a:xfrm>
            <a:off x="7242048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A3470"/>
          </a:solidFill>
        </p:spPr>
      </p:sp>
      <p:sp>
        <p:nvSpPr>
          <p:cNvPr id="16" name="Text 14"/>
          <p:cNvSpPr/>
          <p:nvPr/>
        </p:nvSpPr>
        <p:spPr>
          <a:xfrm>
            <a:off x="7242048" y="3657600"/>
            <a:ext cx="1965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What to do?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5400000">
            <a:off x="9235440" y="4023360"/>
            <a:ext cx="146304" cy="182880"/>
          </a:xfrm>
          <a:prstGeom prst="triangle">
            <a:avLst/>
          </a:prstGeom>
          <a:solidFill>
            <a:srgbClr val="CADCFC"/>
          </a:solidFill>
        </p:spPr>
      </p:sp>
      <p:sp>
        <p:nvSpPr>
          <p:cNvPr id="18" name="Shape 16"/>
          <p:cNvSpPr/>
          <p:nvPr/>
        </p:nvSpPr>
        <p:spPr>
          <a:xfrm>
            <a:off x="9372600" y="36576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F4B4B"/>
          </a:solidFill>
        </p:spPr>
      </p:sp>
      <p:sp>
        <p:nvSpPr>
          <p:cNvPr id="19" name="Text 17"/>
          <p:cNvSpPr/>
          <p:nvPr/>
        </p:nvSpPr>
        <p:spPr>
          <a:xfrm>
            <a:off x="9372600" y="3657600"/>
            <a:ext cx="1965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Simulate 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3C7"/>
                </a:solidFill>
              </a:rPr>
              <a:t>Built entirely in Python — Streamlit, pandas, NumPy, scikit-learn, and Plotly — as a single, coherent, demonstrable application.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Eight Modules, One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</a:rPr>
              <a:t>Descriptive → Diagnostic → Predictive → Prescriptive, each mapped to a working screen.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2356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5" name="Shape 3"/>
          <p:cNvSpPr/>
          <p:nvPr/>
        </p:nvSpPr>
        <p:spPr>
          <a:xfrm>
            <a:off x="1623060" y="1801368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pptx_assets/icon_chart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92481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" y="246888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Executive Dashboard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2084" y="286207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KPIs + auto 'why' driver analysis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0420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10" name="Shape 7"/>
          <p:cNvSpPr/>
          <p:nvPr/>
        </p:nvSpPr>
        <p:spPr>
          <a:xfrm>
            <a:off x="4421124" y="1801368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pptx_assets/icon_magn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192481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0148" y="246888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Sales Analytics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70148" y="286207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Filterable revenue breakdowns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58484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15" name="Shape 11"/>
          <p:cNvSpPr/>
          <p:nvPr/>
        </p:nvSpPr>
        <p:spPr>
          <a:xfrm>
            <a:off x="7219188" y="1801368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pptx_assets/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2" y="192481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8212" y="246888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Customer Intelligence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68212" y="286207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RFM segmentation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56548" y="160020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20" name="Shape 15"/>
          <p:cNvSpPr/>
          <p:nvPr/>
        </p:nvSpPr>
        <p:spPr>
          <a:xfrm>
            <a:off x="10017252" y="1801368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1" name="Image 3" descr="pptx_assets/icon_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696" y="192481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66276" y="246888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Inventory Intelligence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66276" y="286207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Stock vs. lead-time monitoring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62356" y="3794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25" name="Shape 19"/>
          <p:cNvSpPr/>
          <p:nvPr/>
        </p:nvSpPr>
        <p:spPr>
          <a:xfrm>
            <a:off x="1623060" y="3995928"/>
            <a:ext cx="548640" cy="5486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26" name="Image 4" descr="pptx_assets/icon_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4119372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2084" y="466344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Forecasting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72084" y="505663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Linear-trend revenue projection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60420" y="3794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30" name="Shape 23"/>
          <p:cNvSpPr/>
          <p:nvPr/>
        </p:nvSpPr>
        <p:spPr>
          <a:xfrm>
            <a:off x="4421124" y="3995928"/>
            <a:ext cx="548640" cy="5486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31" name="Image 5" descr="pptx_assets/icon_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568" y="4119372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70148" y="466344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Anomaly Detection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70148" y="505663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Z-score deviation alerts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58484" y="3794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35" name="Shape 27"/>
          <p:cNvSpPr/>
          <p:nvPr/>
        </p:nvSpPr>
        <p:spPr>
          <a:xfrm>
            <a:off x="7219188" y="3995928"/>
            <a:ext cx="548640" cy="5486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36" name="Image 6" descr="pptx_assets/icon_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632" y="4119372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68212" y="466344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Decision Center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68212" y="505663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Prioritized recommendations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956548" y="3794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</p:spPr>
      </p:sp>
      <p:sp>
        <p:nvSpPr>
          <p:cNvPr id="40" name="Shape 31"/>
          <p:cNvSpPr/>
          <p:nvPr/>
        </p:nvSpPr>
        <p:spPr>
          <a:xfrm>
            <a:off x="10017252" y="3995928"/>
            <a:ext cx="548640" cy="548640"/>
          </a:xfrm>
          <a:prstGeom prst="ellipse">
            <a:avLst/>
          </a:prstGeom>
          <a:solidFill>
            <a:srgbClr val="FF4B4B"/>
          </a:solidFill>
        </p:spPr>
      </p:sp>
      <p:pic>
        <p:nvPicPr>
          <p:cNvPr id="41" name="Image 7" descr="pptx_assets/icon_flas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0696" y="4119372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66276" y="4663440"/>
            <a:ext cx="245059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62730"/>
                </a:solidFill>
              </a:rPr>
              <a:t>What-If Simulator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066276" y="5056632"/>
            <a:ext cx="2450592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Price/discount elasticity modeling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627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Glimpse of the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Executive Dashboard (left) and Decision Center (right) — live screens from the running application.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3413194"/>
          </a:xfrm>
          <a:prstGeom prst="roundRect">
            <a:avLst>
              <a:gd name="adj" fmla="val 134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5" name="Image 0" descr="mockups/cropped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394960" cy="33217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417320"/>
            <a:ext cx="5486400" cy="3174274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7" name="Image 1" descr="mockups/croppe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94960" cy="30828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262730"/>
                </a:solidFill>
              </a:rPr>
              <a:t>The dashboard doesn't just report that revenue fell — it names the product and region responsible, then queues a prioritized, actionable recommendation.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That Held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</a:rPr>
              <a:t>Validated against two patterns deliberately injected into the test dataset.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8076" y="1737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2A3470"/>
          </a:solidFill>
        </p:spPr>
      </p:sp>
      <p:sp>
        <p:nvSpPr>
          <p:cNvPr id="5" name="Text 3"/>
          <p:cNvSpPr/>
          <p:nvPr/>
        </p:nvSpPr>
        <p:spPr>
          <a:xfrm>
            <a:off x="882396" y="1920240"/>
            <a:ext cx="4800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4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42.6%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82396" y="2788920"/>
            <a:ext cx="4800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Product B decline correctly identified as the #1 revenue driver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1636" y="1737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2A3470"/>
          </a:solidFill>
        </p:spPr>
      </p:sp>
      <p:sp>
        <p:nvSpPr>
          <p:cNvPr id="8" name="Text 6"/>
          <p:cNvSpPr/>
          <p:nvPr/>
        </p:nvSpPr>
        <p:spPr>
          <a:xfrm>
            <a:off x="6505956" y="1920240"/>
            <a:ext cx="4800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4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505956" y="2788920"/>
            <a:ext cx="4800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Anomalies detected automatically, including the injected regional crash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" y="3931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2A3470"/>
          </a:solidFill>
        </p:spPr>
      </p:sp>
      <p:sp>
        <p:nvSpPr>
          <p:cNvPr id="11" name="Text 9"/>
          <p:cNvSpPr/>
          <p:nvPr/>
        </p:nvSpPr>
        <p:spPr>
          <a:xfrm>
            <a:off x="882396" y="4114800"/>
            <a:ext cx="4800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4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82396" y="4983480"/>
            <a:ext cx="4800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Optimal discount level found by the What-If Simulator's discount sweep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1636" y="39319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2A3470"/>
          </a:solidFill>
        </p:spPr>
      </p:sp>
      <p:sp>
        <p:nvSpPr>
          <p:cNvPr id="14" name="Text 12"/>
          <p:cNvSpPr/>
          <p:nvPr/>
        </p:nvSpPr>
        <p:spPr>
          <a:xfrm>
            <a:off x="6505956" y="4114800"/>
            <a:ext cx="4800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4B4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05956" y="4983480"/>
            <a:ext cx="4800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Fully functional modules, from KPIs to price simulation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141B47"/>
          </a:solidFill>
        </p:spPr>
      </p:sp>
      <p:sp>
        <p:nvSpPr>
          <p:cNvPr id="3" name="Text 1"/>
          <p:cNvSpPr/>
          <p:nvPr/>
        </p:nvSpPr>
        <p:spPr>
          <a:xfrm>
            <a:off x="822960" y="2011680"/>
            <a:ext cx="91440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8686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</a:rPr>
              <a:t>Five libraries. One pipeline. A platform that turns data into a decision — and lets you test that decision before you make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88436" y="4297680"/>
            <a:ext cx="640080" cy="640080"/>
          </a:xfrm>
          <a:prstGeom prst="ellipse">
            <a:avLst/>
          </a:prstGeom>
          <a:solidFill>
            <a:srgbClr val="2A3470"/>
          </a:solidFill>
        </p:spPr>
      </p:sp>
      <p:pic>
        <p:nvPicPr>
          <p:cNvPr id="6" name="Image 0" descr="pptx_assets/icon_nump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454" y="4441698"/>
            <a:ext cx="352044" cy="3520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02836" y="4297680"/>
            <a:ext cx="640080" cy="640080"/>
          </a:xfrm>
          <a:prstGeom prst="ellipse">
            <a:avLst/>
          </a:prstGeom>
          <a:solidFill>
            <a:srgbClr val="2A3470"/>
          </a:solidFill>
        </p:spPr>
      </p:sp>
      <p:pic>
        <p:nvPicPr>
          <p:cNvPr id="8" name="Image 1" descr="pptx_assets/icon_pan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854" y="4441698"/>
            <a:ext cx="352044" cy="3520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317236" y="4297680"/>
            <a:ext cx="640080" cy="640080"/>
          </a:xfrm>
          <a:prstGeom prst="ellipse">
            <a:avLst/>
          </a:prstGeom>
          <a:solidFill>
            <a:srgbClr val="2A3470"/>
          </a:solidFill>
        </p:spPr>
      </p:sp>
      <p:pic>
        <p:nvPicPr>
          <p:cNvPr id="10" name="Image 2" descr="pptx_assets/icon_matplotli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254" y="4441698"/>
            <a:ext cx="352044" cy="3520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31636" y="4297680"/>
            <a:ext cx="640080" cy="640080"/>
          </a:xfrm>
          <a:prstGeom prst="ellipse">
            <a:avLst/>
          </a:prstGeom>
          <a:solidFill>
            <a:srgbClr val="2A3470"/>
          </a:solidFill>
        </p:spPr>
      </p:sp>
      <p:pic>
        <p:nvPicPr>
          <p:cNvPr id="12" name="Image 3" descr="pptx_assets/icon_skle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654" y="4441698"/>
            <a:ext cx="352044" cy="3520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146036" y="4297680"/>
            <a:ext cx="640080" cy="640080"/>
          </a:xfrm>
          <a:prstGeom prst="ellipse">
            <a:avLst/>
          </a:prstGeom>
          <a:solidFill>
            <a:srgbClr val="2A3470"/>
          </a:solidFill>
        </p:spPr>
      </p:sp>
      <p:pic>
        <p:nvPicPr>
          <p:cNvPr id="14" name="Image 4" descr="pptx_assets/icon_seab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054" y="4441698"/>
            <a:ext cx="352044" cy="35204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060436" y="4297680"/>
            <a:ext cx="640080" cy="640080"/>
          </a:xfrm>
          <a:prstGeom prst="ellipse">
            <a:avLst/>
          </a:prstGeom>
          <a:solidFill>
            <a:srgbClr val="2A3470"/>
          </a:solidFill>
        </p:spPr>
      </p:sp>
      <p:pic>
        <p:nvPicPr>
          <p:cNvPr id="16" name="Image 5" descr="pptx_assets/icon_streaml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454" y="4441698"/>
            <a:ext cx="352044" cy="3520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3C7"/>
                </a:solidFill>
              </a:rPr>
              <a:t>Questions welcome.</a:t>
            </a:r>
            <a:endParaRPr lang="en-US" sz="1300" dirty="0"/>
          </a:p>
        </p:txBody>
      </p:sp>
      <p:sp>
        <p:nvSpPr>
          <p:cNvPr id="18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Decision360  |  Python Data Stack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3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5284</Words>
  <Application>WPS Presentation</Application>
  <PresentationFormat>On-screen Show (16:9)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Stack &amp; Decision360</dc:title>
  <dc:creator>Decision360 Project</dc:creator>
  <dc:subject>PptxGenJS Presentation</dc:subject>
  <cp:lastModifiedBy>Dipanshu Garg</cp:lastModifiedBy>
  <cp:revision>2</cp:revision>
  <dcterms:created xsi:type="dcterms:W3CDTF">2026-08-29T02:47:00Z</dcterms:created>
  <dcterms:modified xsi:type="dcterms:W3CDTF">2026-08-29T04:28:01Z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21642F0D70D74778ABB0BFAFD1858892_12</vt:lpwstr>
  </property>
</Properties>
</file>